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Score components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75569"/>
              </a:solidFill>
              <a:ln w="9525" cap="flat">
                <a:solidFill>
                  <a:srgbClr val="020617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64748B"/>
              </a:solidFill>
              <a:ln w="9525" cap="flat">
                <a:solidFill>
                  <a:srgbClr val="020617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94A3B8"/>
              </a:solidFill>
              <a:ln w="9525" cap="flat">
                <a:solidFill>
                  <a:srgbClr val="020617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06B6D4"/>
              </a:solidFill>
              <a:ln w="9525" cap="flat">
                <a:solidFill>
                  <a:srgbClr val="020617"/>
                </a:solidFill>
                <a:prstDash val="solid"/>
                <a:round/>
              </a:ln>
              <a:effectLst/>
            </c:spPr>
          </c:dPt>
          <c:dPt>
            <c:idx val="4"/>
            <c:bubble3D val="0"/>
            <c:spPr>
              <a:solidFill>
                <a:srgbClr val="A855F7"/>
              </a:solidFill>
              <a:ln w="9525" cap="flat">
                <a:solidFill>
                  <a:srgbClr val="020617"/>
                </a:solidFill>
                <a:prstDash val="solid"/>
                <a:round/>
              </a:ln>
              <a:effectLst/>
            </c:spPr>
          </c:dPt>
          <c:dPt>
            <c:idx val="5"/>
            <c:bubble3D val="0"/>
            <c:spPr>
              <a:solidFill>
                <a:srgbClr val="10B981"/>
              </a:solidFill>
              <a:ln w="9525" cap="flat">
                <a:solidFill>
                  <a:srgbClr val="020617"/>
                </a:solidFill>
                <a:prstDash val="solid"/>
                <a:round/>
              </a:ln>
              <a:effectLst/>
            </c:spPr>
          </c:dPt>
          <c:dPt>
            <c:idx val="6"/>
            <c:bubble3D val="0"/>
            <c:spPr>
              <a:solidFill>
                <a:srgbClr val="F59E0B"/>
              </a:solidFill>
              <a:ln w="9525" cap="flat">
                <a:solidFill>
                  <a:srgbClr val="020617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6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Base</c:v>
                </c:pt>
                <c:pt idx="1">
                  <c:v>Density</c:v>
                </c:pt>
                <c:pt idx="2">
                  <c:v>Variety</c:v>
                </c:pt>
                <c:pt idx="3">
                  <c:v>Transit</c:v>
                </c:pt>
                <c:pt idx="4">
                  <c:v>Anchors</c:v>
                </c:pt>
                <c:pt idx="5">
                  <c:v>Residential</c:v>
                </c:pt>
                <c:pt idx="6">
                  <c:v>Road class</c:v>
                </c:pt>
              </c:strCache>
            </c:strRef>
          </c:cat>
          <c:val>
            <c:numRef>
              <c:f>Sheet1!$B$2:$B$8</c:f>
              <c:numCache>
                <c:ptCount val="7"/>
                <c:pt idx="0">
                  <c:v>100</c:v>
                </c:pt>
                <c:pt idx="1">
                  <c:v>28</c:v>
                </c:pt>
                <c:pt idx="2">
                  <c:v>12</c:v>
                </c:pt>
                <c:pt idx="3">
                  <c:v>30</c:v>
                </c:pt>
                <c:pt idx="4">
                  <c:v>36</c:v>
                </c:pt>
                <c:pt idx="5">
                  <c:v>15</c:v>
                </c:pt>
                <c:pt idx="6">
                  <c:v>22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E2E8F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x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828800"/>
            <a:ext cx="6400800" cy="6400800"/>
          </a:xfrm>
          <a:prstGeom prst="ellipse">
            <a:avLst/>
          </a:prstGeom>
          <a:solidFill>
            <a:srgbClr val="F59E0B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4114800"/>
            <a:ext cx="4572000" cy="4572000"/>
          </a:xfrm>
          <a:prstGeom prst="ellipse">
            <a:avLst/>
          </a:prstGeom>
          <a:solidFill>
            <a:srgbClr val="06B6D4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955280" y="1965960"/>
            <a:ext cx="2926080" cy="2926080"/>
          </a:xfrm>
          <a:prstGeom prst="ellipse">
            <a:avLst/>
          </a:prstGeom>
          <a:ln w="1905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75320" y="2286000"/>
            <a:ext cx="2286000" cy="2286000"/>
          </a:xfrm>
          <a:prstGeom prst="ellipse">
            <a:avLst/>
          </a:prstGeom>
          <a:ln w="19050">
            <a:solidFill>
              <a:srgbClr val="06B6D4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0" y="2606040"/>
            <a:ext cx="1645920" cy="1645920"/>
          </a:xfrm>
          <a:prstGeom prst="ellipse">
            <a:avLst/>
          </a:prstGeom>
          <a:ln w="19050">
            <a:solidFill>
              <a:srgbClr val="A855F7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15400" y="2926080"/>
            <a:ext cx="1005840" cy="10058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90838" y="3076956"/>
            <a:ext cx="854964" cy="85496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9" name="Shape 7"/>
          <p:cNvSpPr/>
          <p:nvPr/>
        </p:nvSpPr>
        <p:spPr>
          <a:xfrm>
            <a:off x="9125712" y="3136392"/>
            <a:ext cx="585216" cy="585216"/>
          </a:xfrm>
          <a:prstGeom prst="ellipse">
            <a:avLst/>
          </a:prstGeom>
          <a:solidFill>
            <a:srgbClr val="FCD34D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828800"/>
            <a:ext cx="1097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0" dirty="0"/>
          </a:p>
        </p:txBody>
      </p:sp>
      <p:sp>
        <p:nvSpPr>
          <p:cNvPr id="11" name="Text 9"/>
          <p:cNvSpPr/>
          <p:nvPr/>
        </p:nvSpPr>
        <p:spPr>
          <a:xfrm>
            <a:off x="1874520" y="182880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-Box</a:t>
            </a:r>
            <a:endParaRPr lang="en-US" sz="11000" dirty="0"/>
          </a:p>
        </p:txBody>
      </p:sp>
      <p:sp>
        <p:nvSpPr>
          <p:cNvPr id="12" name="Text 10"/>
          <p:cNvSpPr/>
          <p:nvPr/>
        </p:nvSpPr>
        <p:spPr>
          <a:xfrm>
            <a:off x="822960" y="3657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for smarter location decisions.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22960" y="41605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spc="4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 ·  Business  ·  Agent Hub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" y="6007608"/>
            <a:ext cx="164592" cy="16459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59436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A-BOX IS READY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86800" y="59436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Introduction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828800"/>
            <a:ext cx="6400800" cy="6400800"/>
          </a:xfrm>
          <a:prstGeom prst="ellipse">
            <a:avLst/>
          </a:prstGeom>
          <a:solidFill>
            <a:srgbClr val="F59E0B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4114800"/>
            <a:ext cx="4572000" cy="4572000"/>
          </a:xfrm>
          <a:prstGeom prst="ellipse">
            <a:avLst/>
          </a:prstGeom>
          <a:solidFill>
            <a:srgbClr val="06B6D4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app. Three sections.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three buttons are what the user sees on the home screen — each opens a complete workflow.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377440"/>
            <a:ext cx="3657600" cy="3383280"/>
          </a:xfrm>
          <a:prstGeom prst="roundRect">
            <a:avLst>
              <a:gd name="adj" fmla="val 4865"/>
            </a:avLst>
          </a:prstGeom>
          <a:solidFill>
            <a:srgbClr val="0F172A"/>
          </a:solidFill>
          <a:ln w="19050">
            <a:solidFill>
              <a:srgbClr val="10B981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2697480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10B981">
              <a:alpha val="2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97280" y="2816352"/>
            <a:ext cx="457200" cy="320040"/>
          </a:xfrm>
          <a:prstGeom prst="triangle">
            <a:avLst/>
          </a:prstGeom>
          <a:solidFill>
            <a:srgbClr val="10B981"/>
          </a:solidFill>
          <a:ln/>
        </p:spPr>
      </p:sp>
      <p:sp>
        <p:nvSpPr>
          <p:cNvPr id="10" name="Shape 8"/>
          <p:cNvSpPr/>
          <p:nvPr/>
        </p:nvSpPr>
        <p:spPr>
          <a:xfrm>
            <a:off x="1170432" y="3090672"/>
            <a:ext cx="310896" cy="2926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6576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960120" y="42062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· Sell · Rent · Airbnb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46177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properties and compare two areas side-by-side.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53492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→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80560" y="2377440"/>
            <a:ext cx="3657600" cy="3383280"/>
          </a:xfrm>
          <a:prstGeom prst="roundRect">
            <a:avLst>
              <a:gd name="adj" fmla="val 4865"/>
            </a:avLst>
          </a:prstGeom>
          <a:solidFill>
            <a:srgbClr val="0F172A"/>
          </a:solidFill>
          <a:ln w="19050">
            <a:solidFill>
              <a:srgbClr val="F59E0B">
                <a:alpha val="7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00600" y="2697480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F59E0B">
              <a:alpha val="2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892040" y="2971800"/>
            <a:ext cx="548640" cy="365760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/>
        </p:spPr>
      </p:sp>
      <p:sp>
        <p:nvSpPr>
          <p:cNvPr id="18" name="Shape 16"/>
          <p:cNvSpPr/>
          <p:nvPr/>
        </p:nvSpPr>
        <p:spPr>
          <a:xfrm>
            <a:off x="5047488" y="2834640"/>
            <a:ext cx="237744" cy="1645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4800600" y="36576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800600" y="42062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best street to open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00600" y="46177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/ Silver / Bronze street ranking from live OSM data.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00600" y="53492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→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321040" y="2377440"/>
            <a:ext cx="3657600" cy="3383280"/>
          </a:xfrm>
          <a:prstGeom prst="roundRect">
            <a:avLst>
              <a:gd name="adj" fmla="val 4865"/>
            </a:avLst>
          </a:prstGeom>
          <a:solidFill>
            <a:srgbClr val="0F172A"/>
          </a:solidFill>
          <a:ln w="19050">
            <a:solidFill>
              <a:srgbClr val="06B6D4">
                <a:alpha val="7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41080" y="2697480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06B6D4">
              <a:alpha val="2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732520" y="2834640"/>
            <a:ext cx="292608" cy="292608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26" name="Shape 24"/>
          <p:cNvSpPr/>
          <p:nvPr/>
        </p:nvSpPr>
        <p:spPr>
          <a:xfrm>
            <a:off x="8988552" y="2926080"/>
            <a:ext cx="237744" cy="237744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27" name="Shape 25"/>
          <p:cNvSpPr/>
          <p:nvPr/>
        </p:nvSpPr>
        <p:spPr>
          <a:xfrm>
            <a:off x="8686800" y="3154680"/>
            <a:ext cx="594360" cy="228600"/>
          </a:xfrm>
          <a:prstGeom prst="roundRect">
            <a:avLst>
              <a:gd name="adj" fmla="val 20000"/>
            </a:avLst>
          </a:prstGeom>
          <a:solidFill>
            <a:srgbClr val="06B6D4"/>
          </a:solidFill>
          <a:ln/>
        </p:spPr>
      </p:sp>
      <p:sp>
        <p:nvSpPr>
          <p:cNvPr id="28" name="Text 26"/>
          <p:cNvSpPr/>
          <p:nvPr/>
        </p:nvSpPr>
        <p:spPr>
          <a:xfrm>
            <a:off x="8641080" y="36576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Hub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8641080" y="42062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for real-estate agents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641080" y="46177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Zones, properties, personas, and an AI-driven automation studio.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641080" y="53492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→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" y="6126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A-Box uses AI and OpenStreetMap data — no fake listings, no hidden fees.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 ·  PROPERTY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Discover. Compare. Decide.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21945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260604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a pin or use IP location to start.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246120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246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32004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80160" y="361188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Rent / Sell / Airbnb. Browse pins inside the radius.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251960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251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80160" y="4206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0160" y="461772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2nd area, pick one property from each, get an AI comparison report.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766560" y="2194560"/>
            <a:ext cx="4846320" cy="3566160"/>
          </a:xfrm>
          <a:prstGeom prst="roundRect">
            <a:avLst>
              <a:gd name="adj" fmla="val 2564"/>
            </a:avLst>
          </a:prstGeom>
          <a:solidFill>
            <a:srgbClr val="F1F5F9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66560" y="2880360"/>
            <a:ext cx="4846320" cy="18288"/>
          </a:xfrm>
          <a:prstGeom prst="rect">
            <a:avLst/>
          </a:prstGeom>
          <a:solidFill>
            <a:srgbClr val="94A3B8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766560" y="3566160"/>
            <a:ext cx="4846320" cy="18288"/>
          </a:xfrm>
          <a:prstGeom prst="rect">
            <a:avLst/>
          </a:prstGeom>
          <a:solidFill>
            <a:srgbClr val="94A3B8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766560" y="4251960"/>
            <a:ext cx="4846320" cy="18288"/>
          </a:xfrm>
          <a:prstGeom prst="rect">
            <a:avLst/>
          </a:prstGeom>
          <a:solidFill>
            <a:srgbClr val="94A3B8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766560" y="4937760"/>
            <a:ext cx="4846320" cy="18288"/>
          </a:xfrm>
          <a:prstGeom prst="rect">
            <a:avLst/>
          </a:prstGeom>
          <a:solidFill>
            <a:srgbClr val="94A3B8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452360" y="2194560"/>
            <a:ext cx="18288" cy="3566160"/>
          </a:xfrm>
          <a:prstGeom prst="rect">
            <a:avLst/>
          </a:prstGeom>
          <a:solidFill>
            <a:srgbClr val="94A3B8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138160" y="2194560"/>
            <a:ext cx="18288" cy="3566160"/>
          </a:xfrm>
          <a:prstGeom prst="rect">
            <a:avLst/>
          </a:prstGeom>
          <a:solidFill>
            <a:srgbClr val="94A3B8">
              <a:alpha val="2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823960" y="2194560"/>
            <a:ext cx="18288" cy="3566160"/>
          </a:xfrm>
          <a:prstGeom prst="rect">
            <a:avLst/>
          </a:prstGeom>
          <a:solidFill>
            <a:srgbClr val="94A3B8">
              <a:alpha val="2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9509760" y="2194560"/>
            <a:ext cx="18288" cy="3566160"/>
          </a:xfrm>
          <a:prstGeom prst="rect">
            <a:avLst/>
          </a:prstGeom>
          <a:solidFill>
            <a:srgbClr val="94A3B8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0195560" y="2194560"/>
            <a:ext cx="18288" cy="3566160"/>
          </a:xfrm>
          <a:prstGeom prst="rect">
            <a:avLst/>
          </a:prstGeom>
          <a:solidFill>
            <a:srgbClr val="94A3B8">
              <a:alpha val="2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0881360" y="2194560"/>
            <a:ext cx="18288" cy="3566160"/>
          </a:xfrm>
          <a:prstGeom prst="rect">
            <a:avLst/>
          </a:prstGeom>
          <a:solidFill>
            <a:srgbClr val="94A3B8">
              <a:alpha val="2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223760" y="2651760"/>
            <a:ext cx="1828800" cy="1828800"/>
          </a:xfrm>
          <a:prstGeom prst="ellipse">
            <a:avLst/>
          </a:prstGeom>
          <a:solidFill>
            <a:srgbClr val="10B981">
              <a:alpha val="12000"/>
            </a:srgbClr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44000" y="3383280"/>
            <a:ext cx="2011680" cy="2011680"/>
          </a:xfrm>
          <a:prstGeom prst="ellipse">
            <a:avLst/>
          </a:prstGeom>
          <a:solidFill>
            <a:srgbClr val="06B6D4">
              <a:alpha val="12000"/>
            </a:srgbClr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0" y="24688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1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601200" y="32004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2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772400" y="3108960"/>
            <a:ext cx="224028" cy="2240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V="1">
            <a:off x="7812725" y="3232175"/>
            <a:ext cx="143378" cy="158420"/>
          </a:xfrm>
          <a:prstGeom prst="triangle">
            <a:avLst/>
          </a:prstGeom>
          <a:solidFill>
            <a:srgbClr val="10B98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821686" y="3167207"/>
            <a:ext cx="123215" cy="2240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7821686" y="3203052"/>
            <a:ext cx="33604" cy="4480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Shape 34"/>
          <p:cNvSpPr/>
          <p:nvPr/>
        </p:nvSpPr>
        <p:spPr>
          <a:xfrm>
            <a:off x="7866492" y="3203052"/>
            <a:ext cx="33604" cy="4480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Shape 35"/>
          <p:cNvSpPr/>
          <p:nvPr/>
        </p:nvSpPr>
        <p:spPr>
          <a:xfrm>
            <a:off x="8412480" y="3383280"/>
            <a:ext cx="224028" cy="2240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V="1">
            <a:off x="8452805" y="3506495"/>
            <a:ext cx="143378" cy="158420"/>
          </a:xfrm>
          <a:prstGeom prst="triangle">
            <a:avLst/>
          </a:prstGeom>
          <a:solidFill>
            <a:srgbClr val="10B98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461766" y="3441527"/>
            <a:ext cx="123215" cy="2240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Shape 38"/>
          <p:cNvSpPr/>
          <p:nvPr/>
        </p:nvSpPr>
        <p:spPr>
          <a:xfrm>
            <a:off x="8461766" y="3477372"/>
            <a:ext cx="33604" cy="4480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hape 39"/>
          <p:cNvSpPr/>
          <p:nvPr/>
        </p:nvSpPr>
        <p:spPr>
          <a:xfrm>
            <a:off x="8506572" y="3477372"/>
            <a:ext cx="33604" cy="4480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Shape 40"/>
          <p:cNvSpPr/>
          <p:nvPr/>
        </p:nvSpPr>
        <p:spPr>
          <a:xfrm>
            <a:off x="9784080" y="3931920"/>
            <a:ext cx="224028" cy="2240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V="1">
            <a:off x="9824405" y="4055135"/>
            <a:ext cx="143378" cy="158420"/>
          </a:xfrm>
          <a:prstGeom prst="triangle">
            <a:avLst/>
          </a:prstGeom>
          <a:solidFill>
            <a:srgbClr val="10B98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833366" y="3990167"/>
            <a:ext cx="123215" cy="2240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Shape 43"/>
          <p:cNvSpPr/>
          <p:nvPr/>
        </p:nvSpPr>
        <p:spPr>
          <a:xfrm>
            <a:off x="9833366" y="4026012"/>
            <a:ext cx="33604" cy="4480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Shape 44"/>
          <p:cNvSpPr/>
          <p:nvPr/>
        </p:nvSpPr>
        <p:spPr>
          <a:xfrm>
            <a:off x="9878172" y="4026012"/>
            <a:ext cx="33604" cy="4480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Shape 45"/>
          <p:cNvSpPr/>
          <p:nvPr/>
        </p:nvSpPr>
        <p:spPr>
          <a:xfrm>
            <a:off x="10332720" y="4206240"/>
            <a:ext cx="224028" cy="2240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V="1">
            <a:off x="10373045" y="4329455"/>
            <a:ext cx="143378" cy="158420"/>
          </a:xfrm>
          <a:prstGeom prst="triangle">
            <a:avLst/>
          </a:prstGeom>
          <a:solidFill>
            <a:srgbClr val="10B98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382006" y="4264487"/>
            <a:ext cx="123215" cy="2240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Shape 48"/>
          <p:cNvSpPr/>
          <p:nvPr/>
        </p:nvSpPr>
        <p:spPr>
          <a:xfrm>
            <a:off x="10382006" y="4300332"/>
            <a:ext cx="33604" cy="4480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Shape 49"/>
          <p:cNvSpPr/>
          <p:nvPr/>
        </p:nvSpPr>
        <p:spPr>
          <a:xfrm>
            <a:off x="10426812" y="4300332"/>
            <a:ext cx="33604" cy="4480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Shape 50"/>
          <p:cNvSpPr/>
          <p:nvPr/>
        </p:nvSpPr>
        <p:spPr>
          <a:xfrm>
            <a:off x="10058400" y="4663440"/>
            <a:ext cx="224028" cy="2240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V="1">
            <a:off x="10098725" y="4786655"/>
            <a:ext cx="143378" cy="158420"/>
          </a:xfrm>
          <a:prstGeom prst="triangle">
            <a:avLst/>
          </a:prstGeom>
          <a:solidFill>
            <a:srgbClr val="10B98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107686" y="4721687"/>
            <a:ext cx="123215" cy="2240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Shape 53"/>
          <p:cNvSpPr/>
          <p:nvPr/>
        </p:nvSpPr>
        <p:spPr>
          <a:xfrm>
            <a:off x="10107686" y="4757532"/>
            <a:ext cx="33604" cy="4480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Shape 54"/>
          <p:cNvSpPr/>
          <p:nvPr/>
        </p:nvSpPr>
        <p:spPr>
          <a:xfrm>
            <a:off x="10152492" y="4757532"/>
            <a:ext cx="33604" cy="4480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Text 55"/>
          <p:cNvSpPr/>
          <p:nvPr/>
        </p:nvSpPr>
        <p:spPr>
          <a:xfrm>
            <a:off x="6766560" y="58064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map: 2 area circles + filtered property pins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40080" y="6126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by: /api/property-compare · OpenRouter LLM chain · localStorage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 ·  BUSINESS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best street to open.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6858000" cy="3840480"/>
          </a:xfrm>
          <a:prstGeom prst="roundRect">
            <a:avLst>
              <a:gd name="adj" fmla="val 2381"/>
            </a:avLst>
          </a:prstGeom>
          <a:solidFill>
            <a:srgbClr val="020617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54480" y="2651760"/>
            <a:ext cx="5029200" cy="2834640"/>
          </a:xfrm>
          <a:prstGeom prst="ellipse">
            <a:avLst/>
          </a:prstGeom>
          <a:solidFill>
            <a:srgbClr val="F59E0B">
              <a:alpha val="8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3154680"/>
            <a:ext cx="5029200" cy="164592"/>
          </a:xfrm>
          <a:prstGeom prst="rect">
            <a:avLst/>
          </a:prstGeom>
          <a:solidFill>
            <a:srgbClr val="FFD700">
              <a:alpha val="3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371600" y="3200400"/>
            <a:ext cx="5029200" cy="82296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9" name="Shape 7"/>
          <p:cNvSpPr/>
          <p:nvPr/>
        </p:nvSpPr>
        <p:spPr>
          <a:xfrm>
            <a:off x="1371600" y="3794760"/>
            <a:ext cx="4114800" cy="164592"/>
          </a:xfrm>
          <a:prstGeom prst="rect">
            <a:avLst/>
          </a:prstGeom>
          <a:solidFill>
            <a:srgbClr val="C0C0C0">
              <a:alpha val="3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371600" y="3840480"/>
            <a:ext cx="4114800" cy="64008"/>
          </a:xfrm>
          <a:prstGeom prst="rect">
            <a:avLst/>
          </a:prstGeom>
          <a:solidFill>
            <a:srgbClr val="C0C0C0"/>
          </a:solidFill>
          <a:ln/>
        </p:spPr>
      </p:sp>
      <p:sp>
        <p:nvSpPr>
          <p:cNvPr id="11" name="Shape 9"/>
          <p:cNvSpPr/>
          <p:nvPr/>
        </p:nvSpPr>
        <p:spPr>
          <a:xfrm>
            <a:off x="2286000" y="4434840"/>
            <a:ext cx="3657600" cy="164592"/>
          </a:xfrm>
          <a:prstGeom prst="rect">
            <a:avLst/>
          </a:prstGeom>
          <a:solidFill>
            <a:srgbClr val="CD7F32">
              <a:alpha val="3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286000" y="4480560"/>
            <a:ext cx="3657600" cy="54864"/>
          </a:xfrm>
          <a:prstGeom prst="rect">
            <a:avLst/>
          </a:prstGeom>
          <a:solidFill>
            <a:srgbClr val="CD7F32"/>
          </a:solidFill>
          <a:ln/>
        </p:spPr>
      </p:sp>
      <p:sp>
        <p:nvSpPr>
          <p:cNvPr id="13" name="Shape 11"/>
          <p:cNvSpPr/>
          <p:nvPr/>
        </p:nvSpPr>
        <p:spPr>
          <a:xfrm>
            <a:off x="1828800" y="5029200"/>
            <a:ext cx="3200400" cy="164592"/>
          </a:xfrm>
          <a:prstGeom prst="rect">
            <a:avLst/>
          </a:prstGeom>
          <a:solidFill>
            <a:srgbClr val="FFD700">
              <a:alpha val="3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828800" y="5074920"/>
            <a:ext cx="3200400" cy="82296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5" name="Shape 13"/>
          <p:cNvSpPr/>
          <p:nvPr/>
        </p:nvSpPr>
        <p:spPr>
          <a:xfrm>
            <a:off x="2743200" y="2971800"/>
            <a:ext cx="640080" cy="640080"/>
          </a:xfrm>
          <a:prstGeom prst="star5">
            <a:avLst/>
          </a:prstGeom>
          <a:solidFill>
            <a:srgbClr val="06B6D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0" y="2971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931920" y="4846320"/>
            <a:ext cx="544068" cy="544068"/>
          </a:xfrm>
          <a:prstGeom prst="star5">
            <a:avLst/>
          </a:prstGeom>
          <a:solidFill>
            <a:srgbClr val="06B6D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31920" y="4846320"/>
            <a:ext cx="544068" cy="5440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103120" y="3108960"/>
            <a:ext cx="288036" cy="28803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2154966" y="3267380"/>
            <a:ext cx="184343" cy="203683"/>
          </a:xfrm>
          <a:prstGeom prst="triangle">
            <a:avLst/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95292" y="3189610"/>
            <a:ext cx="103693" cy="10369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5029200" y="3108960"/>
            <a:ext cx="288036" cy="28803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5081046" y="3267380"/>
            <a:ext cx="184343" cy="203683"/>
          </a:xfrm>
          <a:prstGeom prst="triangle">
            <a:avLst/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21372" y="3189610"/>
            <a:ext cx="103693" cy="10369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4389120" y="3749040"/>
            <a:ext cx="288036" cy="28803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4440966" y="3907460"/>
            <a:ext cx="184343" cy="203683"/>
          </a:xfrm>
          <a:prstGeom prst="triangle">
            <a:avLst/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81292" y="3829690"/>
            <a:ext cx="103693" cy="10369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5486400" y="4389120"/>
            <a:ext cx="288036" cy="28803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5538246" y="4547540"/>
            <a:ext cx="184343" cy="203683"/>
          </a:xfrm>
          <a:prstGeom prst="triangle">
            <a:avLst/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578572" y="4469770"/>
            <a:ext cx="103693" cy="10369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868680" y="2240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LEGEND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772400" y="2103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RANKS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772400" y="2514600"/>
            <a:ext cx="1005840" cy="320040"/>
          </a:xfrm>
          <a:prstGeom prst="roundRect">
            <a:avLst>
              <a:gd name="adj" fmla="val 50000"/>
            </a:avLst>
          </a:prstGeom>
          <a:solidFill>
            <a:srgbClr val="FFD700"/>
          </a:solidFill>
          <a:ln/>
        </p:spPr>
      </p:sp>
      <p:sp>
        <p:nvSpPr>
          <p:cNvPr id="34" name="Text 32"/>
          <p:cNvSpPr/>
          <p:nvPr/>
        </p:nvSpPr>
        <p:spPr>
          <a:xfrm>
            <a:off x="7772400" y="25146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915400" y="249631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≥ 160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772400" y="289864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location.  Prioritise.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772400" y="3474720"/>
            <a:ext cx="1005840" cy="320040"/>
          </a:xfrm>
          <a:prstGeom prst="roundRect">
            <a:avLst>
              <a:gd name="adj" fmla="val 50000"/>
            </a:avLst>
          </a:prstGeom>
          <a:solidFill>
            <a:srgbClr val="C0C0C0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0" y="347472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915400" y="345643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110-159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772400" y="385876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Viable backup.  Watch the competition.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772400" y="4434840"/>
            <a:ext cx="1005840" cy="320040"/>
          </a:xfrm>
          <a:prstGeom prst="roundRect">
            <a:avLst>
              <a:gd name="adj" fmla="val 50000"/>
            </a:avLst>
          </a:prstGeom>
          <a:solidFill>
            <a:srgbClr val="CD7F32"/>
          </a:solidFill>
          <a:ln/>
        </p:spPr>
      </p:sp>
      <p:sp>
        <p:nvSpPr>
          <p:cNvPr id="42" name="Text 40"/>
          <p:cNvSpPr/>
          <p:nvPr/>
        </p:nvSpPr>
        <p:spPr>
          <a:xfrm>
            <a:off x="7772400" y="44348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915400" y="441655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&lt; 110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772400" y="481888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quiet or saturated. Skip.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40080" y="6126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categories  ·  3 radii (500 m / 1 km / 1.5 km)  ·  Live OpenStreetMap data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 ·  AGENT HUB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workspace for real-estate agents.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WORKSPACE VIEWS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2532888"/>
            <a:ext cx="365760" cy="365760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5328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24688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3035808"/>
            <a:ext cx="365760" cy="365760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0358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43000" y="29718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 (Zones)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0080" y="3538728"/>
            <a:ext cx="365760" cy="365760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5387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43000" y="34747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40080" y="4041648"/>
            <a:ext cx="365760" cy="365760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0416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39776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Projects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40080" y="4544568"/>
            <a:ext cx="365760" cy="365760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5445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43000" y="44805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5943600" y="2103120"/>
            <a:ext cx="5669280" cy="3840480"/>
          </a:xfrm>
          <a:prstGeom prst="roundRect">
            <a:avLst>
              <a:gd name="adj" fmla="val 2857"/>
            </a:avLst>
          </a:prstGeom>
          <a:solidFill>
            <a:srgbClr val="020617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0" y="22402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FLAGSHIP  ·  i-Case Workspace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178040" y="4023360"/>
            <a:ext cx="914400" cy="-41148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06840" y="3566160"/>
            <a:ext cx="914400" cy="41148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63640" y="3657600"/>
            <a:ext cx="155448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858768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6766560" y="37307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766560" y="404164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Dubai Marina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092440" y="3200400"/>
            <a:ext cx="155448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29600" y="3401568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8595360" y="32735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595360" y="358444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Finder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9921240" y="3657600"/>
            <a:ext cx="155448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058400" y="3858768"/>
            <a:ext cx="320040" cy="3200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35" name="Text 33"/>
          <p:cNvSpPr/>
          <p:nvPr/>
        </p:nvSpPr>
        <p:spPr>
          <a:xfrm>
            <a:off x="10424160" y="37307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0424160" y="404164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263640" y="4937760"/>
            <a:ext cx="5212080" cy="868680"/>
          </a:xfrm>
          <a:prstGeom prst="roundRect">
            <a:avLst>
              <a:gd name="adj" fmla="val 8421"/>
            </a:avLst>
          </a:prstGeom>
          <a:solidFill>
            <a:srgbClr val="0F172A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63640" y="4983480"/>
            <a:ext cx="731520" cy="731520"/>
          </a:xfrm>
          <a:prstGeom prst="ellipse">
            <a:avLst/>
          </a:prstGeom>
          <a:ln w="1905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43650" y="5063490"/>
            <a:ext cx="571500" cy="571500"/>
          </a:xfrm>
          <a:prstGeom prst="ellipse">
            <a:avLst/>
          </a:prstGeom>
          <a:ln w="19050">
            <a:solidFill>
              <a:srgbClr val="06B6D4">
                <a:alpha val="4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23660" y="5143500"/>
            <a:ext cx="411480" cy="411480"/>
          </a:xfrm>
          <a:prstGeom prst="ellipse">
            <a:avLst/>
          </a:prstGeom>
          <a:ln w="19050">
            <a:solidFill>
              <a:srgbClr val="A855F7">
                <a:alpha val="4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03670" y="5223510"/>
            <a:ext cx="251460" cy="25146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522530" y="5261229"/>
            <a:ext cx="213741" cy="213741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43" name="Shape 41"/>
          <p:cNvSpPr/>
          <p:nvPr/>
        </p:nvSpPr>
        <p:spPr>
          <a:xfrm>
            <a:off x="6556248" y="5276088"/>
            <a:ext cx="146304" cy="146304"/>
          </a:xfrm>
          <a:prstGeom prst="ellipse">
            <a:avLst/>
          </a:prstGeom>
          <a:solidFill>
            <a:srgbClr val="FCD34D"/>
          </a:solidFill>
          <a:ln/>
        </p:spPr>
      </p:sp>
      <p:sp>
        <p:nvSpPr>
          <p:cNvPr id="44" name="Text 42"/>
          <p:cNvSpPr/>
          <p:nvPr/>
        </p:nvSpPr>
        <p:spPr>
          <a:xfrm>
            <a:off x="6995160" y="49834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"Add a 1.5 km zone in JBR and run a price-compare."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995160" y="53949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3 actions executed automatically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40080" y="6126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orchestrator: agent describes the workflow → LLM returns chat + structured actions.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828800"/>
            <a:ext cx="6400800" cy="6400800"/>
          </a:xfrm>
          <a:prstGeom prst="ellipse">
            <a:avLst/>
          </a:prstGeom>
          <a:solidFill>
            <a:srgbClr val="F59E0B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4114800"/>
            <a:ext cx="4572000" cy="4572000"/>
          </a:xfrm>
          <a:prstGeom prst="ellipse">
            <a:avLst/>
          </a:prstGeom>
          <a:solidFill>
            <a:srgbClr val="06B6D4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→ Math → AI Narrative.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1691640" y="2331720"/>
            <a:ext cx="45720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1874520" y="21945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OSM Data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874520" y="265176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every business, transit, anchor and residential building inside the radius.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3832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800" dirty="0"/>
          </a:p>
        </p:txBody>
      </p:sp>
      <p:sp>
        <p:nvSpPr>
          <p:cNvPr id="11" name="Shape 9"/>
          <p:cNvSpPr/>
          <p:nvPr/>
        </p:nvSpPr>
        <p:spPr>
          <a:xfrm>
            <a:off x="1691640" y="3520440"/>
            <a:ext cx="45720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1874520" y="33832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Math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874520" y="384048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100 − (competitors × 18) + variety + density + transit + anchors + residential + road class.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457200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800" dirty="0"/>
          </a:p>
        </p:txBody>
      </p:sp>
      <p:sp>
        <p:nvSpPr>
          <p:cNvPr id="15" name="Shape 13"/>
          <p:cNvSpPr/>
          <p:nvPr/>
        </p:nvSpPr>
        <p:spPr>
          <a:xfrm>
            <a:off x="1691640" y="4709160"/>
            <a:ext cx="45720" cy="6400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6" name="Text 14"/>
          <p:cNvSpPr/>
          <p:nvPr/>
        </p:nvSpPr>
        <p:spPr>
          <a:xfrm>
            <a:off x="1874520" y="45720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Narrative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874520" y="502920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writes the per-street notes, executive report, recommendation reasoning, property portals.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680960" y="2103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COMPOSITION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680960" y="23774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top-street breakdown</a:t>
            </a:r>
            <a:endParaRPr lang="en-US" sz="11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7772400" y="2651760"/>
          <a:ext cx="36576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Shape 18"/>
          <p:cNvSpPr/>
          <p:nvPr/>
        </p:nvSpPr>
        <p:spPr>
          <a:xfrm>
            <a:off x="640080" y="5852160"/>
            <a:ext cx="10972800" cy="640080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/>
        </p:spPr>
      </p:sp>
      <p:sp>
        <p:nvSpPr>
          <p:cNvPr id="22" name="Text 19"/>
          <p:cNvSpPr/>
          <p:nvPr/>
        </p:nvSpPr>
        <p:spPr>
          <a:xfrm>
            <a:off x="640080" y="58521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0206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 measures the street.  The AI describes the measurement.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Modern, production-ready, zero-cost stack.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221992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21031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11880" y="210312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(App Router) + React 18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2724912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6060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11880" y="26060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0080" y="3227832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31089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11880" y="310896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 + react-leaflet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40080" y="3730752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36118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11880" y="361188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API Routes (Node.js)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40080" y="4233672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41148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DATA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11880" y="411480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OpenStreetMap (Overpass + Nominatim)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40080" y="4736592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1051560" y="46177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11880" y="461772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 → Ollama → template fallback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40080" y="5239512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1051560" y="51206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11880" y="5120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localStorage (no backend)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9509760" y="2103120"/>
            <a:ext cx="2103120" cy="2286000"/>
          </a:xfrm>
          <a:prstGeom prst="roundRect">
            <a:avLst>
              <a:gd name="adj" fmla="val 6522"/>
            </a:avLst>
          </a:prstGeom>
          <a:solidFill>
            <a:srgbClr val="020617"/>
          </a:solidFill>
          <a:ln/>
        </p:spPr>
      </p:sp>
      <p:sp>
        <p:nvSpPr>
          <p:cNvPr id="26" name="Text 24"/>
          <p:cNvSpPr/>
          <p:nvPr/>
        </p:nvSpPr>
        <p:spPr>
          <a:xfrm>
            <a:off x="9509760" y="2286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COST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509760" y="260604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7800" dirty="0"/>
          </a:p>
        </p:txBody>
      </p:sp>
      <p:sp>
        <p:nvSpPr>
          <p:cNvPr id="28" name="Text 26"/>
          <p:cNvSpPr/>
          <p:nvPr/>
        </p:nvSpPr>
        <p:spPr>
          <a:xfrm>
            <a:off x="9509760" y="37947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API keys.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billing.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509760" y="4572000"/>
            <a:ext cx="2103120" cy="1463040"/>
          </a:xfrm>
          <a:prstGeom prst="roundRect">
            <a:avLst>
              <a:gd name="adj" fmla="val 9375"/>
            </a:avLst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9509760" y="461772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206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5600" dirty="0"/>
          </a:p>
        </p:txBody>
      </p:sp>
      <p:sp>
        <p:nvSpPr>
          <p:cNvPr id="31" name="Text 29"/>
          <p:cNvSpPr/>
          <p:nvPr/>
        </p:nvSpPr>
        <p:spPr>
          <a:xfrm>
            <a:off x="9509760" y="534924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06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206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powering 3 sections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" y="6126480"/>
            <a:ext cx="877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public services today.  Paid APIs (Google Places · Placer.ai · Property Finder API) are the next investment.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828800"/>
            <a:ext cx="6400800" cy="6400800"/>
          </a:xfrm>
          <a:prstGeom prst="ellipse">
            <a:avLst/>
          </a:prstGeom>
          <a:solidFill>
            <a:srgbClr val="F59E0B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4114800"/>
            <a:ext cx="4572000" cy="4572000"/>
          </a:xfrm>
          <a:prstGeom prst="ellipse">
            <a:avLst/>
          </a:prstGeom>
          <a:solidFill>
            <a:srgbClr val="06B6D4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041648" y="1152144"/>
            <a:ext cx="4096512" cy="4096512"/>
          </a:xfrm>
          <a:prstGeom prst="ellipse">
            <a:avLst/>
          </a:prstGeom>
          <a:ln w="1905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489704" y="1600200"/>
            <a:ext cx="3200400" cy="3200400"/>
          </a:xfrm>
          <a:prstGeom prst="ellipse">
            <a:avLst/>
          </a:prstGeom>
          <a:ln w="19050">
            <a:solidFill>
              <a:srgbClr val="06B6D4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37760" y="2048256"/>
            <a:ext cx="2304288" cy="2304288"/>
          </a:xfrm>
          <a:prstGeom prst="ellipse">
            <a:avLst/>
          </a:prstGeom>
          <a:ln w="19050">
            <a:solidFill>
              <a:srgbClr val="A855F7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85816" y="2496312"/>
            <a:ext cx="1408176" cy="140817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91429" y="2707538"/>
            <a:ext cx="1196950" cy="119695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9" name="Shape 7"/>
          <p:cNvSpPr/>
          <p:nvPr/>
        </p:nvSpPr>
        <p:spPr>
          <a:xfrm>
            <a:off x="5680253" y="2790749"/>
            <a:ext cx="819302" cy="819302"/>
          </a:xfrm>
          <a:prstGeom prst="ellipse">
            <a:avLst/>
          </a:prstGeom>
          <a:solidFill>
            <a:srgbClr val="FCD34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9377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A-Box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spc="4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 ·  Business  ·  Agent Hub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212080" y="6327648"/>
            <a:ext cx="164592" cy="16459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3" name="Text 11"/>
          <p:cNvSpPr/>
          <p:nvPr/>
        </p:nvSpPr>
        <p:spPr>
          <a:xfrm>
            <a:off x="5440680" y="62636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A-BOX IS READY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Questions?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A-Box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A-Box — AI agent for smarter location decisions</dc:title>
  <dc:subject>PptxGenJS Presentation</dc:subject>
  <dc:creator>PptxGenJS</dc:creator>
  <cp:lastModifiedBy>PptxGenJS</cp:lastModifiedBy>
  <cp:revision>1</cp:revision>
  <dcterms:created xsi:type="dcterms:W3CDTF">2026-05-18T03:04:45Z</dcterms:created>
  <dcterms:modified xsi:type="dcterms:W3CDTF">2026-05-18T03:04:45Z</dcterms:modified>
</cp:coreProperties>
</file>