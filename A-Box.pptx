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1965960"/>
            <a:ext cx="2926080" cy="2926080"/>
          </a:xfrm>
          <a:prstGeom prst="ellipse">
            <a:avLst/>
          </a:prstGeom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75320" y="2286000"/>
            <a:ext cx="2286000" cy="2286000"/>
          </a:xfrm>
          <a:prstGeom prst="ellipse">
            <a:avLst/>
          </a:prstGeom>
          <a:ln w="190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2606040"/>
            <a:ext cx="1645920" cy="1645920"/>
          </a:xfrm>
          <a:prstGeom prst="ellipse">
            <a:avLst/>
          </a:prstGeom>
          <a:ln w="190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2926080"/>
            <a:ext cx="1005840" cy="10058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90838" y="3076956"/>
            <a:ext cx="854964" cy="8549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9125712" y="3136392"/>
            <a:ext cx="585216" cy="585216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37360"/>
            <a:ext cx="109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1965960" y="173736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-Box</a:t>
            </a:r>
            <a:endParaRPr lang="en-US" sz="120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 smarter location decisions.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4251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 ·  Business  ·  Agent Hub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007608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943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 IS READY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0" y="5943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Introduction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sections. Three audiences.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button on the home screen opens a complete workflow.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905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6974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816352"/>
            <a:ext cx="457200" cy="320040"/>
          </a:xfrm>
          <a:prstGeom prst="triangl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170432" y="3090672"/>
            <a:ext cx="310896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6012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· Sell · Rent · Airbnb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617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properties and compare two areas side-by-side.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394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37744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905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6974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2971800"/>
            <a:ext cx="548640" cy="36576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047488" y="2834640"/>
            <a:ext cx="237744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80060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street to open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617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Silver / Bronze street ranking from live OSM data.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5394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237744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905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269748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06B6D4">
              <a:alpha val="2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732520" y="2834640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8988552" y="2926080"/>
            <a:ext cx="237744" cy="23774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0" y="315468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8641080" y="3657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Hub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64108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real-estate agents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41080" y="46177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Zones, properties and an AI-driven automation studio.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41080" y="5394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0" y="6355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PROPERTY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Compare. Decide.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buyers, renters and investors who want to compare two areas at once.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788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pin or use IP location.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Rent / Sell / Airbnb. Browse pins inside the radius.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709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property in each area. Get an AI comparison report.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237744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3017520"/>
            <a:ext cx="4846320" cy="1828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766560" y="3657600"/>
            <a:ext cx="4846320" cy="1828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4297680"/>
            <a:ext cx="4846320" cy="1828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4937760"/>
            <a:ext cx="4846320" cy="18288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452360" y="2377440"/>
            <a:ext cx="18288" cy="329184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2377440"/>
            <a:ext cx="18288" cy="329184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23960" y="2377440"/>
            <a:ext cx="18288" cy="329184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509760" y="2377440"/>
            <a:ext cx="18288" cy="329184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195560" y="2377440"/>
            <a:ext cx="18288" cy="329184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881360" y="2377440"/>
            <a:ext cx="18288" cy="3291840"/>
          </a:xfrm>
          <a:prstGeom prst="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2743200"/>
            <a:ext cx="1828800" cy="1828800"/>
          </a:xfrm>
          <a:prstGeom prst="ellipse">
            <a:avLst/>
          </a:prstGeom>
          <a:solidFill>
            <a:srgbClr val="10B981">
              <a:alpha val="1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0" y="3291840"/>
            <a:ext cx="2011680" cy="2011680"/>
          </a:xfrm>
          <a:prstGeom prst="ellipse">
            <a:avLst/>
          </a:prstGeom>
          <a:solidFill>
            <a:srgbClr val="06B6D4">
              <a:alpha val="12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320040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7812725" y="332361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21686" y="325864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7821686" y="329449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866492" y="329449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412480" y="352044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452805" y="364365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61766" y="357868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8461766" y="361453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506572" y="361453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9784080" y="384048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824405" y="396369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33366" y="389872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833366" y="393457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9878172" y="393457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0332720" y="420624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373045" y="432945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82006" y="426448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0382006" y="430033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10426812" y="430033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9966960" y="4572000"/>
            <a:ext cx="224028" cy="2240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007285" y="4695215"/>
            <a:ext cx="143378" cy="158420"/>
          </a:xfrm>
          <a:prstGeom prst="triangl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16246" y="4630247"/>
            <a:ext cx="123215" cy="224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10016246" y="466609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10061052" y="4666092"/>
            <a:ext cx="33604" cy="44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58400" y="6355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BUSINESS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best street to open.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street ranked Gold / Silver / Bronze from real OpenStreetMap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6858000" cy="3383280"/>
          </a:xfrm>
          <a:prstGeom prst="roundRect">
            <a:avLst>
              <a:gd name="adj" fmla="val 2703"/>
            </a:avLst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743200"/>
            <a:ext cx="5029200" cy="283464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3154680"/>
            <a:ext cx="5029200" cy="164592"/>
          </a:xfrm>
          <a:prstGeom prst="rect">
            <a:avLst/>
          </a:prstGeom>
          <a:solidFill>
            <a:srgbClr val="FFD700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200400"/>
            <a:ext cx="5029200" cy="8229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794760"/>
            <a:ext cx="4114800" cy="164592"/>
          </a:xfrm>
          <a:prstGeom prst="rect">
            <a:avLst/>
          </a:prstGeom>
          <a:solidFill>
            <a:srgbClr val="C0C0C0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3840480"/>
            <a:ext cx="4114800" cy="64008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4434840"/>
            <a:ext cx="3657600" cy="164592"/>
          </a:xfrm>
          <a:prstGeom prst="rect">
            <a:avLst/>
          </a:prstGeom>
          <a:solidFill>
            <a:srgbClr val="CD7F32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4480560"/>
            <a:ext cx="3657600" cy="54864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5029200"/>
            <a:ext cx="3200400" cy="164592"/>
          </a:xfrm>
          <a:prstGeom prst="rect">
            <a:avLst/>
          </a:prstGeom>
          <a:solidFill>
            <a:srgbClr val="FFD700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5074920"/>
            <a:ext cx="3200400" cy="8229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0" y="2971800"/>
            <a:ext cx="640080" cy="640080"/>
          </a:xfrm>
          <a:prstGeom prst="star5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971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31920" y="4846320"/>
            <a:ext cx="544068" cy="544068"/>
          </a:xfrm>
          <a:prstGeom prst="star5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4846320"/>
            <a:ext cx="544068" cy="544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03120" y="3108960"/>
            <a:ext cx="288036" cy="2880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2154966" y="3267380"/>
            <a:ext cx="184343" cy="203683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5292" y="3189610"/>
            <a:ext cx="103693" cy="103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0" y="3108960"/>
            <a:ext cx="288036" cy="2880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081046" y="3267380"/>
            <a:ext cx="184343" cy="203683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1372" y="3189610"/>
            <a:ext cx="103693" cy="103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3749040"/>
            <a:ext cx="288036" cy="2880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440966" y="3907460"/>
            <a:ext cx="184343" cy="203683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1292" y="3829690"/>
            <a:ext cx="103693" cy="103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0" y="4389120"/>
            <a:ext cx="288036" cy="28803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538246" y="4547540"/>
            <a:ext cx="184343" cy="203683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8572" y="4469770"/>
            <a:ext cx="103693" cy="10369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RANKS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274320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27432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2724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160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0" y="3127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location.  Prioritise.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0" y="37033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37033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15400" y="3685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110-159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0" y="40873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backup.  Watch competition.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72400" y="466344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CD7F32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0" y="46634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15400" y="4645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110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50474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quiet or saturated. Skip.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058400" y="6355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AGENT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workspace for real-estate agents.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zones, properties and personas. Automate workflows with i-Case.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WORKSPACE VIEWS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07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218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(Zones)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58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6941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1696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Projects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365760" cy="365760"/>
          </a:xfrm>
          <a:prstGeom prst="ellipse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6451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0" y="2377440"/>
            <a:ext cx="5669280" cy="3383280"/>
          </a:xfrm>
          <a:prstGeom prst="roundRect">
            <a:avLst>
              <a:gd name="adj" fmla="val 3243"/>
            </a:avLst>
          </a:prstGeom>
          <a:solidFill>
            <a:srgbClr val="020617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 ·  i-Case Workspace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4206240"/>
            <a:ext cx="914400" cy="-41148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3749040"/>
            <a:ext cx="914400" cy="41148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8404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041648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9136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4224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Marina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33832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358444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8595360" y="34564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3767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921240" y="38404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4041648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10424160" y="39136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424160" y="42245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49377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7531" y="4999939"/>
            <a:ext cx="643738" cy="643738"/>
          </a:xfrm>
          <a:prstGeom prst="ellipse">
            <a:avLst/>
          </a:prstGeom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77940" y="5070348"/>
            <a:ext cx="502920" cy="502920"/>
          </a:xfrm>
          <a:prstGeom prst="ellipse">
            <a:avLst/>
          </a:prstGeom>
          <a:ln w="190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48349" y="5140757"/>
            <a:ext cx="362102" cy="362102"/>
          </a:xfrm>
          <a:prstGeom prst="ellipse">
            <a:avLst/>
          </a:prstGeom>
          <a:ln w="190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8758" y="5211166"/>
            <a:ext cx="221285" cy="22128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35354" y="5244358"/>
            <a:ext cx="188092" cy="1880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Shape 42"/>
          <p:cNvSpPr/>
          <p:nvPr/>
        </p:nvSpPr>
        <p:spPr>
          <a:xfrm>
            <a:off x="6565026" y="5257434"/>
            <a:ext cx="128748" cy="128748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45" name="Text 43"/>
          <p:cNvSpPr/>
          <p:nvPr/>
        </p:nvSpPr>
        <p:spPr>
          <a:xfrm>
            <a:off x="6995160" y="49834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1.5 km zone in JBR and run a price-compare."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95160" y="5349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actions executed automatically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0" y="6355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street gets its score.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JavaScript math. No AI. 100% reproducible.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02061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054096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−  (competitors × 18)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 (variety × 2)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75888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 min(density, 30) × 1.5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986784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 transit bonus       (up to +45)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 anchor bonus        (up to +48)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608576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 residential bonus   (up to +25)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91947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 road-class bonus    (−12 to +25)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2286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2670048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26060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15400" y="2606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penalty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3035808"/>
            <a:ext cx="16459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2971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2971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of nearby shops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3401568"/>
            <a:ext cx="164592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3337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15400" y="33375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active the street 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3767328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3703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15400" y="3703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/ metro stops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4133088"/>
            <a:ext cx="164592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4069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15400" y="4069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/ school / hospital / mosque / park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0" y="4498848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44348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15400" y="44348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population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0" y="4864608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7543800" y="48006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class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915400" y="4800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pedestrian wins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5669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571500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/>
        </p:spPr>
      </p:sp>
      <p:sp>
        <p:nvSpPr>
          <p:cNvPr id="39" name="Text 37"/>
          <p:cNvSpPr/>
          <p:nvPr/>
        </p:nvSpPr>
        <p:spPr>
          <a:xfrm>
            <a:off x="2011680" y="5715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108960" y="5669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160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0" y="571500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C0C0C0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5715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5669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110 - 159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315200" y="571500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CD7F32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0" y="5715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12480" y="5669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110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58400" y="6355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click to a ranked map in under 30 seconds.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2926080"/>
            <a:ext cx="822960" cy="82296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category, radius.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1800000">
            <a:off x="2702052" y="3273552"/>
            <a:ext cx="146304" cy="274320"/>
          </a:xfrm>
          <a:prstGeom prst="rightTriangle">
            <a:avLst/>
          </a:prstGeom>
          <a:solidFill>
            <a:srgbClr val="FBBF24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3764" y="3410712"/>
            <a:ext cx="1188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2756916" y="3319272"/>
            <a:ext cx="164592" cy="182880"/>
          </a:xfrm>
          <a:prstGeom prst="triangle">
            <a:avLst/>
          </a:prstGeom>
          <a:solidFill>
            <a:srgbClr val="FBBF24"/>
          </a:solidFill>
          <a:ln/>
        </p:spPr>
      </p:sp>
      <p:sp>
        <p:nvSpPr>
          <p:cNvPr id="16" name="Shape 14"/>
          <p:cNvSpPr/>
          <p:nvPr/>
        </p:nvSpPr>
        <p:spPr>
          <a:xfrm>
            <a:off x="2862072" y="265176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9292" y="2926080"/>
            <a:ext cx="822960" cy="82296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9292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862072" y="3886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62072" y="4206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99232" y="4709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+ Nominatim return live data.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1800000">
            <a:off x="4924044" y="3273552"/>
            <a:ext cx="146304" cy="274320"/>
          </a:xfrm>
          <a:prstGeom prst="rightTriangle">
            <a:avLst/>
          </a:prstGeom>
          <a:solidFill>
            <a:srgbClr val="FBB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4905756" y="3410712"/>
            <a:ext cx="1188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4978908" y="3319272"/>
            <a:ext cx="164592" cy="182880"/>
          </a:xfrm>
          <a:prstGeom prst="triangle">
            <a:avLst/>
          </a:prstGeom>
          <a:solidFill>
            <a:srgbClr val="FBBF24"/>
          </a:solidFill>
          <a:ln/>
        </p:spPr>
      </p:sp>
      <p:sp>
        <p:nvSpPr>
          <p:cNvPr id="25" name="Shape 23"/>
          <p:cNvSpPr/>
          <p:nvPr/>
        </p:nvSpPr>
        <p:spPr>
          <a:xfrm>
            <a:off x="5084064" y="265176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01284" y="2926080"/>
            <a:ext cx="822960" cy="822960"/>
          </a:xfrm>
          <a:prstGeom prst="ellipse">
            <a:avLst/>
          </a:prstGeom>
          <a:solidFill>
            <a:srgbClr val="94A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01284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084064" y="3886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84064" y="4206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21224" y="4709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ranks every street.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rot="1800000">
            <a:off x="7146036" y="3273552"/>
            <a:ext cx="146304" cy="274320"/>
          </a:xfrm>
          <a:prstGeom prst="rightTriangle">
            <a:avLst/>
          </a:prstGeom>
          <a:solidFill>
            <a:srgbClr val="FBBF24"/>
          </a:solidFill>
          <a:ln/>
        </p:spPr>
      </p:sp>
      <p:sp>
        <p:nvSpPr>
          <p:cNvPr id="32" name="Shape 30"/>
          <p:cNvSpPr/>
          <p:nvPr/>
        </p:nvSpPr>
        <p:spPr>
          <a:xfrm>
            <a:off x="7127748" y="3410712"/>
            <a:ext cx="1188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7200900" y="3319272"/>
            <a:ext cx="164592" cy="182880"/>
          </a:xfrm>
          <a:prstGeom prst="triangle">
            <a:avLst/>
          </a:prstGeom>
          <a:solidFill>
            <a:srgbClr val="FBBF24"/>
          </a:solidFill>
          <a:ln/>
        </p:spPr>
      </p:sp>
      <p:sp>
        <p:nvSpPr>
          <p:cNvPr id="34" name="Shape 32"/>
          <p:cNvSpPr/>
          <p:nvPr/>
        </p:nvSpPr>
        <p:spPr>
          <a:xfrm>
            <a:off x="7306056" y="265176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3276" y="2926080"/>
            <a:ext cx="822960" cy="82296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23276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306056" y="3886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06056" y="4206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43216" y="4709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report.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rot="1800000">
            <a:off x="9368028" y="3273552"/>
            <a:ext cx="146304" cy="274320"/>
          </a:xfrm>
          <a:prstGeom prst="rightTriangle">
            <a:avLst/>
          </a:prstGeom>
          <a:solidFill>
            <a:srgbClr val="FBBF24"/>
          </a:solidFill>
          <a:ln/>
        </p:spPr>
      </p:sp>
      <p:sp>
        <p:nvSpPr>
          <p:cNvPr id="41" name="Shape 39"/>
          <p:cNvSpPr/>
          <p:nvPr/>
        </p:nvSpPr>
        <p:spPr>
          <a:xfrm>
            <a:off x="9349740" y="3410712"/>
            <a:ext cx="118872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5400000">
            <a:off x="9422892" y="3319272"/>
            <a:ext cx="164592" cy="182880"/>
          </a:xfrm>
          <a:prstGeom prst="triangle">
            <a:avLst/>
          </a:prstGeom>
          <a:solidFill>
            <a:srgbClr val="FBBF24"/>
          </a:solidFill>
          <a:ln/>
        </p:spPr>
      </p:sp>
      <p:sp>
        <p:nvSpPr>
          <p:cNvPr id="43" name="Shape 41"/>
          <p:cNvSpPr/>
          <p:nvPr/>
        </p:nvSpPr>
        <p:spPr>
          <a:xfrm>
            <a:off x="9528048" y="265176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45268" y="2926080"/>
            <a:ext cx="822960" cy="822960"/>
          </a:xfrm>
          <a:prstGeom prst="ellipse">
            <a:avLst/>
          </a:prstGeom>
          <a:solidFill>
            <a:srgbClr val="A855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45268" y="2926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9528048" y="38862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528048" y="4206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Report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665208" y="47091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back to the user.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566928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decides the ranking. The LLM only writes the story.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058400" y="6355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production-ready, zero-cost stack.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219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1880" y="21031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+ React 18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06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26060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31089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react-leaflet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611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36118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(Node.js)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23367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14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11880" y="41148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(Overpass + Nominatim)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73659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6177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11880" y="461772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→ Ollama → template fallback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" y="523951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120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5120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 (no backend)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509760" y="210312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020617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0" y="26060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7800" dirty="0"/>
          </a:p>
        </p:txBody>
      </p:sp>
      <p:sp>
        <p:nvSpPr>
          <p:cNvPr id="28" name="Text 26"/>
          <p:cNvSpPr/>
          <p:nvPr/>
        </p:nvSpPr>
        <p:spPr>
          <a:xfrm>
            <a:off x="9509760" y="3794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billing.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09760" y="4572000"/>
            <a:ext cx="2103120" cy="1463040"/>
          </a:xfrm>
          <a:prstGeom prst="roundRect">
            <a:avLst>
              <a:gd name="adj" fmla="val 9375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509760" y="4617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31" name="Text 29"/>
          <p:cNvSpPr/>
          <p:nvPr/>
        </p:nvSpPr>
        <p:spPr>
          <a:xfrm>
            <a:off x="9509760" y="53492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3 sections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0" y="6355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6400800" cy="6400800"/>
          </a:xfrm>
          <a:prstGeom prst="ellipse">
            <a:avLst/>
          </a:prstGeom>
          <a:solidFill>
            <a:srgbClr val="F59E0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041648" y="1060704"/>
            <a:ext cx="4096512" cy="4096512"/>
          </a:xfrm>
          <a:prstGeom prst="ellipse">
            <a:avLst/>
          </a:prstGeom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9704" y="1508760"/>
            <a:ext cx="3200400" cy="3200400"/>
          </a:xfrm>
          <a:prstGeom prst="ellipse">
            <a:avLst/>
          </a:prstGeom>
          <a:ln w="190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1956816"/>
            <a:ext cx="2304288" cy="2304288"/>
          </a:xfrm>
          <a:prstGeom prst="ellipse">
            <a:avLst/>
          </a:prstGeom>
          <a:ln w="190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85816" y="2404872"/>
            <a:ext cx="1408176" cy="140817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91429" y="2616098"/>
            <a:ext cx="1196950" cy="11969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680253" y="2699309"/>
            <a:ext cx="819302" cy="819302"/>
          </a:xfrm>
          <a:prstGeom prst="ellipse">
            <a:avLst/>
          </a:prstGeom>
          <a:solidFill>
            <a:srgbClr val="FCD34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A-Box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 ·  Business  ·  Agent 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A-Box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A-Box</dc:title>
  <dc:subject>PptxGenJS Presentation</dc:subject>
  <dc:creator>PptxGenJS</dc:creator>
  <cp:lastModifiedBy>PptxGenJS</cp:lastModifiedBy>
  <cp:revision>1</cp:revision>
  <dcterms:created xsi:type="dcterms:W3CDTF">2026-05-18T03:23:41Z</dcterms:created>
  <dcterms:modified xsi:type="dcterms:W3CDTF">2026-05-18T03:23:41Z</dcterms:modified>
</cp:coreProperties>
</file>